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4"/>
  </p:sldMasterIdLst>
  <p:notesMasterIdLst>
    <p:notesMasterId r:id="rId50"/>
  </p:notesMasterIdLst>
  <p:sldIdLst>
    <p:sldId id="256" r:id="rId5"/>
    <p:sldId id="317" r:id="rId6"/>
    <p:sldId id="292" r:id="rId7"/>
    <p:sldId id="303" r:id="rId8"/>
    <p:sldId id="304" r:id="rId9"/>
    <p:sldId id="306" r:id="rId10"/>
    <p:sldId id="339" r:id="rId11"/>
    <p:sldId id="315" r:id="rId12"/>
    <p:sldId id="302" r:id="rId13"/>
    <p:sldId id="310" r:id="rId14"/>
    <p:sldId id="311" r:id="rId15"/>
    <p:sldId id="312" r:id="rId16"/>
    <p:sldId id="314" r:id="rId17"/>
    <p:sldId id="319" r:id="rId18"/>
    <p:sldId id="323" r:id="rId19"/>
    <p:sldId id="321" r:id="rId20"/>
    <p:sldId id="320" r:id="rId21"/>
    <p:sldId id="322" r:id="rId22"/>
    <p:sldId id="313" r:id="rId23"/>
    <p:sldId id="327" r:id="rId24"/>
    <p:sldId id="328" r:id="rId25"/>
    <p:sldId id="329" r:id="rId26"/>
    <p:sldId id="330" r:id="rId27"/>
    <p:sldId id="333" r:id="rId28"/>
    <p:sldId id="331" r:id="rId29"/>
    <p:sldId id="332" r:id="rId30"/>
    <p:sldId id="334" r:id="rId31"/>
    <p:sldId id="336" r:id="rId32"/>
    <p:sldId id="335" r:id="rId33"/>
    <p:sldId id="316" r:id="rId34"/>
    <p:sldId id="289" r:id="rId35"/>
    <p:sldId id="290" r:id="rId36"/>
    <p:sldId id="293" r:id="rId37"/>
    <p:sldId id="291" r:id="rId38"/>
    <p:sldId id="294" r:id="rId39"/>
    <p:sldId id="299" r:id="rId40"/>
    <p:sldId id="337" r:id="rId41"/>
    <p:sldId id="338" r:id="rId42"/>
    <p:sldId id="301" r:id="rId43"/>
    <p:sldId id="326" r:id="rId44"/>
    <p:sldId id="281" r:id="rId45"/>
    <p:sldId id="295" r:id="rId46"/>
    <p:sldId id="296" r:id="rId47"/>
    <p:sldId id="288" r:id="rId48"/>
    <p:sldId id="308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munication:Prince" id="{7AC2B297-E426-4905-9095-AAF154F825D1}">
          <p14:sldIdLst>
            <p14:sldId id="256"/>
          </p14:sldIdLst>
        </p14:section>
        <p14:section name="Platooning R.Diagram:Prince" id="{86456DA9-A586-46D0-A309-041C3607462E}">
          <p14:sldIdLst>
            <p14:sldId id="317"/>
          </p14:sldIdLst>
        </p14:section>
        <p14:section name="Introduction: Saidur" id="{C4F5A759-733E-4342-8641-870E011694E8}">
          <p14:sldIdLst>
            <p14:sldId id="292"/>
            <p14:sldId id="303"/>
            <p14:sldId id="304"/>
            <p14:sldId id="306"/>
            <p14:sldId id="339"/>
            <p14:sldId id="315"/>
            <p14:sldId id="302"/>
            <p14:sldId id="310"/>
            <p14:sldId id="311"/>
            <p14:sldId id="312"/>
            <p14:sldId id="314"/>
            <p14:sldId id="319"/>
            <p14:sldId id="323"/>
            <p14:sldId id="321"/>
            <p14:sldId id="320"/>
            <p14:sldId id="322"/>
            <p14:sldId id="313"/>
            <p14:sldId id="327"/>
            <p14:sldId id="328"/>
            <p14:sldId id="329"/>
            <p14:sldId id="330"/>
            <p14:sldId id="333"/>
            <p14:sldId id="331"/>
            <p14:sldId id="332"/>
            <p14:sldId id="334"/>
            <p14:sldId id="336"/>
            <p14:sldId id="335"/>
          </p14:sldIdLst>
        </p14:section>
        <p14:section name="Communication: Prince" id="{6144420F-D22B-4B91-BE1A-064D75373764}">
          <p14:sldIdLst>
            <p14:sldId id="316"/>
            <p14:sldId id="289"/>
            <p14:sldId id="290"/>
            <p14:sldId id="293"/>
            <p14:sldId id="291"/>
          </p14:sldIdLst>
        </p14:section>
        <p14:section name="Untitled Section" id="{2184CC80-7528-4E0A-BEB5-9D187EA2C494}">
          <p14:sldIdLst>
            <p14:sldId id="294"/>
            <p14:sldId id="299"/>
            <p14:sldId id="337"/>
            <p14:sldId id="338"/>
            <p14:sldId id="301"/>
            <p14:sldId id="326"/>
            <p14:sldId id="281"/>
            <p14:sldId id="295"/>
            <p14:sldId id="296"/>
            <p14:sldId id="288"/>
          </p14:sldIdLst>
        </p14:section>
        <p14:section name="BackUp Slides" id="{EAD46EA6-5CEB-4477-8ED7-A2CCF738A934}">
          <p14:sldIdLst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920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AEF6A-4D9F-4FD7-812D-4C248F42C9DC}" v="562" dt="2023-06-22T20:26:11.930"/>
    <p1510:client id="{33456262-8864-4BFF-A0D6-B65B1C079DAF}" v="42" dt="2023-06-22T12:25:33.835"/>
    <p1510:client id="{3B7A62B7-0F02-4584-8EED-01329E23C226}" v="475" dt="2023-06-22T20:20:57.137"/>
    <p1510:client id="{538ED9C6-E742-4AFD-9F6C-87525F8C5313}" v="221" dt="2023-06-22T14:43:33.035"/>
    <p1510:client id="{8A79A1EE-FA49-42EC-86B5-EA051969B48F}" v="3" dt="2023-06-22T15:00:43.719"/>
    <p1510:client id="{98456097-CDA2-4E47-B314-AFD56C220798}" v="45" dt="2023-06-22T16:21:20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6/22/2023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17F735D-DA8A-4431-A43D-626F30CDD843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8260-D1E1-4DC3-97D0-1DCF4B220F23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3B68-9426-45E7-827F-6C076B5E7FDD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064D-8B0E-4097-A99B-2E5B60CEB9CE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0FB0-BFBF-4A80-8912-EDA068B36463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27DF-A023-4EF8-A5F7-2A7A67A51871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24F7D-3655-4FFC-903B-C071ED38BFD3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59D82-8A8F-416F-AA88-F53B6CA9FECC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107A-7B1A-47DB-92BC-C085CF55E62B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4FD1-4E2C-4D98-9ABD-4943BF25C0EC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253F-937C-4B2E-88FC-6175C434CA1C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3C9F5FB-1CBD-47B8-9C69-2CFAABBE203E}" type="datetime1">
              <a:rPr lang="en-US" smtClean="0"/>
              <a:t>6/22/2023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</a:rPr>
              <a:t>Truck platooning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Truck Net (Group 3):</a:t>
            </a:r>
          </a:p>
          <a:p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54B9F-9D36-4C52-90CF-A67620B75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1ADFB-05D4-BCB0-3B28-674AE8C3D6B9}"/>
              </a:ext>
            </a:extLst>
          </p:cNvPr>
          <p:cNvSpPr txBox="1"/>
          <p:nvPr/>
        </p:nvSpPr>
        <p:spPr>
          <a:xfrm>
            <a:off x="4322923" y="5553499"/>
            <a:ext cx="4939426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Arsany</a:t>
            </a:r>
            <a:r>
              <a:rPr lang="en-US" dirty="0"/>
              <a:t> </a:t>
            </a:r>
            <a:r>
              <a:rPr lang="en-US"/>
              <a:t>Girgis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Md Saidur Rahman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Moshiour</a:t>
            </a:r>
            <a:r>
              <a:rPr lang="en-US" dirty="0"/>
              <a:t> Rahman Prince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Sahat Al Ferdous Fahim 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FB801-E0D1-4A74-BF86-BE00BF65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Platooning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40E04-773D-4995-B428-CA985A3C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FF7FF5-D7C0-46CD-A1F5-215C04235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</p:spPr>
        <p:txBody>
          <a:bodyPr/>
          <a:lstStyle/>
          <a:p>
            <a:r>
              <a:rPr lang="en-US"/>
              <a:t>Moshiour Rahman Prince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0504A7-1407-4648-B35C-4F2C5692E2A9}"/>
              </a:ext>
            </a:extLst>
          </p:cNvPr>
          <p:cNvSpPr/>
          <p:nvPr/>
        </p:nvSpPr>
        <p:spPr>
          <a:xfrm>
            <a:off x="2542384" y="2474886"/>
            <a:ext cx="405002" cy="1173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DC9838-33EF-446D-A227-ED6C6623AF96}"/>
              </a:ext>
            </a:extLst>
          </p:cNvPr>
          <p:cNvSpPr/>
          <p:nvPr/>
        </p:nvSpPr>
        <p:spPr>
          <a:xfrm>
            <a:off x="4243527" y="2453684"/>
            <a:ext cx="886169" cy="4021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DD0E9BB9-69F9-4D10-AFE8-AB6E08975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8702" y="1750335"/>
            <a:ext cx="7794595" cy="4250970"/>
          </a:xfr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449C928-5E72-45E7-A2EF-F041F5076125}"/>
              </a:ext>
            </a:extLst>
          </p:cNvPr>
          <p:cNvSpPr/>
          <p:nvPr/>
        </p:nvSpPr>
        <p:spPr>
          <a:xfrm>
            <a:off x="8190385" y="1788618"/>
            <a:ext cx="1764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E770B4-67AB-4997-B089-11DCBC466326}"/>
              </a:ext>
            </a:extLst>
          </p:cNvPr>
          <p:cNvSpPr txBox="1"/>
          <p:nvPr/>
        </p:nvSpPr>
        <p:spPr>
          <a:xfrm>
            <a:off x="4842932" y="6051338"/>
            <a:ext cx="3693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Fig: Requirement Diagram</a:t>
            </a:r>
          </a:p>
        </p:txBody>
      </p:sp>
    </p:spTree>
    <p:extLst>
      <p:ext uri="{BB962C8B-B14F-4D97-AF65-F5344CB8AC3E}">
        <p14:creationId xmlns:p14="http://schemas.microsoft.com/office/powerpoint/2010/main" val="3835076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Concept: </a:t>
            </a:r>
            <a:r>
              <a:rPr lang="en-US" sz="4400" i="1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Requirements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text, screenshot, diagram, parallel&#10;&#10;Description automatically generated">
            <a:extLst>
              <a:ext uri="{FF2B5EF4-FFF2-40B4-BE49-F238E27FC236}">
                <a16:creationId xmlns:a16="http://schemas.microsoft.com/office/drawing/2014/main" id="{D1917AF7-A0A1-E87E-58B5-7D6E1B810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829" y="362133"/>
            <a:ext cx="7465366" cy="638288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FAB73BC-B049-4115-A692-8D63A059BFB8}" type="slidenum">
              <a:rPr lang="en-US" smtClean="0"/>
              <a:pPr defTabSz="914400"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F76F0-5077-4C25-B82B-193E4A45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4174336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Concept: </a:t>
            </a:r>
            <a:b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4400" i="1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Use case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picture containing text, screenshot, diagram, line&#10;&#10;Description automatically generated">
            <a:extLst>
              <a:ext uri="{FF2B5EF4-FFF2-40B4-BE49-F238E27FC236}">
                <a16:creationId xmlns:a16="http://schemas.microsoft.com/office/drawing/2014/main" id="{A0AC7054-35EC-6223-28B9-6932B734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500" y="722442"/>
            <a:ext cx="7322630" cy="574826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FAB73BC-B049-4115-A692-8D63A059BFB8}" type="slidenum">
              <a:rPr lang="en-US" smtClean="0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E360D-EE38-4ECE-A22D-DE055824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93209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spc="200" dirty="0"/>
              <a:t>Class diagram</a:t>
            </a:r>
            <a:endParaRPr lang="en-US" sz="4400" kern="1200" cap="all" spc="200" baseline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FAB73BC-B049-4115-A692-8D63A059BFB8}" type="slidenum">
              <a:rPr lang="en-US" smtClean="0"/>
              <a:pPr defTabSz="914400"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5" name="Picture 4" descr="A diagram of a truck&#10;&#10;Description automatically generated with medium confidence">
            <a:extLst>
              <a:ext uri="{FF2B5EF4-FFF2-40B4-BE49-F238E27FC236}">
                <a16:creationId xmlns:a16="http://schemas.microsoft.com/office/drawing/2014/main" id="{1640D8EA-7E52-7394-1EC9-2892AC9BC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21" y="768735"/>
            <a:ext cx="7936717" cy="55880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09580-9743-4FC8-8355-121CD719D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53751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Platoon formation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254B9F89-3498-0BD4-ECEF-8F10B649E3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6" t="6314" r="3809"/>
          <a:stretch/>
        </p:blipFill>
        <p:spPr>
          <a:xfrm>
            <a:off x="3921591" y="1179190"/>
            <a:ext cx="7764271" cy="488632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FAB73BC-B049-4115-A692-8D63A059BFB8}" type="slidenum">
              <a:rPr lang="en-US" smtClean="0"/>
              <a:pPr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21965-AF02-433F-ACFA-0699E402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298843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1CDA-4105-C8C3-F402-0B0BE8FAB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433F9-1D38-C579-C072-6C0DB40C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7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468353-2309-4198-B67D-573F5D5D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11" name="Picture 11" descr="Diagram&#10;&#10;Description automatically generated">
            <a:extLst>
              <a:ext uri="{FF2B5EF4-FFF2-40B4-BE49-F238E27FC236}">
                <a16:creationId xmlns:a16="http://schemas.microsoft.com/office/drawing/2014/main" id="{6FCA49BA-C6FB-3A55-378D-D62E068F0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341" y="1335706"/>
            <a:ext cx="7068670" cy="481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2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1CDA-4105-C8C3-F402-0B0BE8FAB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433F9-1D38-C579-C072-6C0DB40C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8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B33E5-1223-434D-91E6-7AACB4C8C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452" y="2189733"/>
            <a:ext cx="4524375" cy="3028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035E75-7C94-44E6-8461-CBB8EDA0C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878" y="1022911"/>
            <a:ext cx="3840702" cy="5006629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468353-2309-4198-B67D-573F5D5D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Moshiour Rahman Prince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E4D9E-B18B-49E6-95AF-69BFFAA84917}"/>
              </a:ext>
            </a:extLst>
          </p:cNvPr>
          <p:cNvSpPr txBox="1"/>
          <p:nvPr/>
        </p:nvSpPr>
        <p:spPr>
          <a:xfrm>
            <a:off x="1496882" y="4954252"/>
            <a:ext cx="318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Fig: V2C 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18DA9-E2DC-47F5-8573-42B90CA3A612}"/>
              </a:ext>
            </a:extLst>
          </p:cNvPr>
          <p:cNvSpPr txBox="1"/>
          <p:nvPr/>
        </p:nvSpPr>
        <p:spPr>
          <a:xfrm>
            <a:off x="6815091" y="5835089"/>
            <a:ext cx="321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Fig: V2V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519943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079" y="1606456"/>
            <a:ext cx="7829783" cy="504410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0493F-BC48-4385-B46E-85BEB1FFD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94529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261449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97805" y="1606456"/>
            <a:ext cx="7780330" cy="504410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E51A8-27D1-4A07-915D-5C401321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1844964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97805" y="1612371"/>
            <a:ext cx="7780330" cy="50322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22848-072E-424F-B87C-726808FA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65954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3700117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04559" y="1612371"/>
            <a:ext cx="7766822" cy="50322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30396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4"/>
          <a:stretch/>
        </p:blipFill>
        <p:spPr>
          <a:xfrm>
            <a:off x="3114621" y="1657349"/>
            <a:ext cx="6746698" cy="4987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3638364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1" b="1341"/>
          <a:stretch/>
        </p:blipFill>
        <p:spPr>
          <a:xfrm>
            <a:off x="786809" y="1657349"/>
            <a:ext cx="11405191" cy="4987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1471048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1" b="1251"/>
          <a:stretch/>
        </p:blipFill>
        <p:spPr>
          <a:xfrm>
            <a:off x="786809" y="1657349"/>
            <a:ext cx="11405191" cy="4987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3886980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1" b="1601"/>
          <a:stretch/>
        </p:blipFill>
        <p:spPr>
          <a:xfrm>
            <a:off x="786809" y="1657349"/>
            <a:ext cx="11405191" cy="4987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2439836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2" b="1382"/>
          <a:stretch/>
        </p:blipFill>
        <p:spPr>
          <a:xfrm>
            <a:off x="786809" y="1657349"/>
            <a:ext cx="11405191" cy="4987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4062936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77DEC-92BF-46EC-382A-163CBF49FB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314" r="-1339"/>
          <a:stretch/>
        </p:blipFill>
        <p:spPr>
          <a:xfrm>
            <a:off x="786809" y="1657349"/>
            <a:ext cx="11405191" cy="49872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2411087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8908B5A5-5184-C783-EA7B-07A886559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871" y="1764637"/>
            <a:ext cx="7214346" cy="423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46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BF2DC243-0D46-A114-30D6-E69DA9D0F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94" y="1900905"/>
            <a:ext cx="7326405" cy="430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94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1778DCD3-7C22-5763-B3AA-1F282C4A5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077" y="1714944"/>
            <a:ext cx="8009964" cy="471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65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A88CB49B-E90F-6FE6-48E0-D38BE38D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724" y="1814352"/>
            <a:ext cx="7729817" cy="452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22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A2A860A3-44C6-F695-E2BD-360D5FB1F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136" y="1860620"/>
            <a:ext cx="7718611" cy="45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69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92E15336-F248-793F-7394-607BDE66E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724" y="1859071"/>
            <a:ext cx="7651375" cy="450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12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7" name="Picture 5" descr="Diagram&#10;&#10;Description automatically generated">
            <a:extLst>
              <a:ext uri="{FF2B5EF4-FFF2-40B4-BE49-F238E27FC236}">
                <a16:creationId xmlns:a16="http://schemas.microsoft.com/office/drawing/2014/main" id="{48A85579-FF9D-619E-F262-6C9ED1972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783" y="1900905"/>
            <a:ext cx="7539316" cy="442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05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320E19E5-F78B-8AED-0EBD-9D4E14B9A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635" y="1633507"/>
            <a:ext cx="8065994" cy="477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80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492B42F4-0D08-6189-A1F9-354B68A24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724" y="1811342"/>
            <a:ext cx="7539317" cy="446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95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88C41A91-6914-BD45-AA25-2F6FA79DD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459" y="1837206"/>
            <a:ext cx="7651376" cy="455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70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Uppaal: Safety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A40E6-8D38-4420-B84D-32A48A38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556429"/>
            <a:ext cx="5901459" cy="274320"/>
          </a:xfrm>
        </p:spPr>
        <p:txBody>
          <a:bodyPr/>
          <a:lstStyle/>
          <a:p>
            <a:r>
              <a:rPr lang="en-US" dirty="0" err="1"/>
              <a:t>Arsany</a:t>
            </a:r>
          </a:p>
        </p:txBody>
      </p:sp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2F8F8E22-D20C-BB13-3AD0-3AB254349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607" y="1773960"/>
            <a:ext cx="7808258" cy="456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9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1CDA-4105-C8C3-F402-0B0BE8FAB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UPPAAL: Connect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433F9-1D38-C579-C072-6C0DB40C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30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4360C72-B358-44F7-9C49-027F567E1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3801" y="2262187"/>
            <a:ext cx="5800725" cy="2333625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574CAE-38B5-4168-9598-8EA2E3E79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Moshiour Rahman Prince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E6AFDD-C612-46C6-B8B7-204447E4730B}"/>
              </a:ext>
            </a:extLst>
          </p:cNvPr>
          <p:cNvSpPr txBox="1"/>
          <p:nvPr/>
        </p:nvSpPr>
        <p:spPr>
          <a:xfrm>
            <a:off x="4567633" y="4226480"/>
            <a:ext cx="380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Fig: Uppaal Model</a:t>
            </a:r>
          </a:p>
        </p:txBody>
      </p:sp>
    </p:spTree>
    <p:extLst>
      <p:ext uri="{BB962C8B-B14F-4D97-AF65-F5344CB8AC3E}">
        <p14:creationId xmlns:p14="http://schemas.microsoft.com/office/powerpoint/2010/main" val="670383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ML: Data </a:t>
            </a:r>
            <a:r>
              <a:rPr lang="en-US" dirty="0"/>
              <a:t>preparation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75620-8EBD-4D4C-BA2E-DE892E38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49" y="2466494"/>
            <a:ext cx="5249451" cy="34051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2AE266-0502-4046-8AC1-9AE0F68E3B39}"/>
              </a:ext>
            </a:extLst>
          </p:cNvPr>
          <p:cNvSpPr txBox="1"/>
          <p:nvPr/>
        </p:nvSpPr>
        <p:spPr>
          <a:xfrm>
            <a:off x="7259541" y="2968758"/>
            <a:ext cx="4794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years_of_experience</a:t>
            </a:r>
            <a:r>
              <a:rPr lang="de-DE" dirty="0"/>
              <a:t> = (0, 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aerodynamics_score</a:t>
            </a:r>
            <a:r>
              <a:rPr lang="de-DE" dirty="0"/>
              <a:t> = (5, 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technological_score</a:t>
            </a:r>
            <a:r>
              <a:rPr lang="de-DE" dirty="0"/>
              <a:t> = (1,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5000 </a:t>
            </a:r>
            <a:r>
              <a:rPr lang="de-DE" dirty="0" err="1"/>
              <a:t>samples</a:t>
            </a: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BDB4C-8E27-450C-907B-7142CD0D3018}"/>
              </a:ext>
            </a:extLst>
          </p:cNvPr>
          <p:cNvSpPr txBox="1"/>
          <p:nvPr/>
        </p:nvSpPr>
        <p:spPr>
          <a:xfrm>
            <a:off x="6938308" y="2608951"/>
            <a:ext cx="524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Parameters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E0B20-4385-4DB5-895F-86A8EF66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BE09E-865B-4C18-BBF4-FFE33D441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Sahat al </a:t>
            </a:r>
            <a:r>
              <a:rPr lang="en-US" dirty="0" err="1"/>
              <a:t>ferdous</a:t>
            </a:r>
            <a:r>
              <a:rPr lang="en-US" dirty="0"/>
              <a:t> </a:t>
            </a:r>
            <a:r>
              <a:rPr lang="en-US" dirty="0" err="1"/>
              <a:t>fahim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96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ML: Data </a:t>
            </a:r>
            <a:r>
              <a:rPr lang="de-DE" dirty="0" err="1"/>
              <a:t>preparation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36FAE-BD24-469F-9FFF-6FB78CA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11" y="2735249"/>
            <a:ext cx="6176253" cy="3038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925189-06A5-4278-9274-9DF6676A463F}"/>
              </a:ext>
            </a:extLst>
          </p:cNvPr>
          <p:cNvSpPr txBox="1"/>
          <p:nvPr/>
        </p:nvSpPr>
        <p:spPr>
          <a:xfrm>
            <a:off x="745111" y="2044684"/>
            <a:ext cx="5613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4E0A5-4A99-4956-874C-DCA2D0469204}"/>
                  </a:ext>
                </a:extLst>
              </p:cNvPr>
              <p:cNvSpPr txBox="1"/>
              <p:nvPr/>
            </p:nvSpPr>
            <p:spPr>
              <a:xfrm>
                <a:off x="8385127" y="1632858"/>
                <a:ext cx="3127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dirty="0"/>
                  <a:t>Score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4E0A5-4A99-4956-874C-DCA2D0469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127" y="1632858"/>
                <a:ext cx="3127075" cy="276999"/>
              </a:xfrm>
              <a:prstGeom prst="rect">
                <a:avLst/>
              </a:prstGeom>
              <a:blipFill>
                <a:blip r:embed="rId3"/>
                <a:stretch>
                  <a:fillRect l="-4688" t="-28889" r="-1563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F99C75-0B6B-4566-8429-75426747DF43}"/>
                  </a:ext>
                </a:extLst>
              </p:cNvPr>
              <p:cNvSpPr txBox="1"/>
              <p:nvPr/>
            </p:nvSpPr>
            <p:spPr>
              <a:xfrm>
                <a:off x="8376966" y="2357334"/>
                <a:ext cx="312707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= 5;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de-DE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=7;</m:t>
                    </m:r>
                  </m:oMath>
                </a14:m>
                <a:endParaRPr lang="de-DE" dirty="0"/>
              </a:p>
              <a:p>
                <a:pPr lvl="1"/>
                <a:r>
                  <a:rPr lang="de-DE" dirty="0"/>
                  <a:t>A= </a:t>
                </a:r>
                <a:r>
                  <a:rPr lang="de-DE" dirty="0" err="1"/>
                  <a:t>years_of_experience</a:t>
                </a:r>
                <a:endParaRPr lang="de-DE" dirty="0"/>
              </a:p>
              <a:p>
                <a:r>
                  <a:rPr lang="de-DE" dirty="0"/>
                  <a:t>	B = </a:t>
                </a:r>
                <a:r>
                  <a:rPr lang="de-DE" dirty="0" err="1"/>
                  <a:t>aerodynamics_score</a:t>
                </a:r>
                <a:endParaRPr lang="de-DE" dirty="0"/>
              </a:p>
              <a:p>
                <a:r>
                  <a:rPr lang="de-DE" dirty="0"/>
                  <a:t>	C = </a:t>
                </a:r>
                <a:r>
                  <a:rPr lang="de-DE" dirty="0" err="1"/>
                  <a:t>technological_score</a:t>
                </a:r>
                <a:endParaRPr lang="de-D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F99C75-0B6B-4566-8429-75426747D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966" y="2357334"/>
                <a:ext cx="3127075" cy="1200329"/>
              </a:xfrm>
              <a:prstGeom prst="rect">
                <a:avLst/>
              </a:prstGeom>
              <a:blipFill>
                <a:blip r:embed="rId4"/>
                <a:stretch>
                  <a:fillRect l="-1170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31484AC-3D7B-496A-8864-D2A35A6C1562}"/>
              </a:ext>
            </a:extLst>
          </p:cNvPr>
          <p:cNvSpPr txBox="1"/>
          <p:nvPr/>
        </p:nvSpPr>
        <p:spPr>
          <a:xfrm>
            <a:off x="8319406" y="1988002"/>
            <a:ext cx="133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Where</a:t>
            </a:r>
            <a:r>
              <a:rPr lang="de-DE" dirty="0"/>
              <a:t>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1C8F7-3DA0-4D03-84EA-2847272E5334}"/>
              </a:ext>
            </a:extLst>
          </p:cNvPr>
          <p:cNvSpPr txBox="1"/>
          <p:nvPr/>
        </p:nvSpPr>
        <p:spPr>
          <a:xfrm>
            <a:off x="8507184" y="4005140"/>
            <a:ext cx="2939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If</a:t>
            </a:r>
            <a:r>
              <a:rPr lang="de-DE" dirty="0"/>
              <a:t> score &gt; 450 :</a:t>
            </a:r>
          </a:p>
          <a:p>
            <a:r>
              <a:rPr lang="de-DE" dirty="0"/>
              <a:t>		</a:t>
            </a:r>
            <a:r>
              <a:rPr lang="de-DE" dirty="0" err="1"/>
              <a:t>leader</a:t>
            </a:r>
            <a:r>
              <a:rPr lang="de-DE" dirty="0"/>
              <a:t> = True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EF5F1A-F54D-4A26-9B1D-6068951B5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11" y="2735249"/>
            <a:ext cx="6820759" cy="2979751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EA40945-7BEF-476B-9AEC-96BF79C8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82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ML: Data </a:t>
            </a:r>
            <a:r>
              <a:rPr lang="de-DE" dirty="0" err="1"/>
              <a:t>preparation</a:t>
            </a:r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67E2AD-FBAB-4EDE-AA61-CF87DF195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60" y="2351011"/>
            <a:ext cx="3688086" cy="2743503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3A77F82-3CC4-4062-8F1E-771D14597E7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12900" y="2655734"/>
            <a:ext cx="2441048" cy="2021619"/>
          </a:xfrm>
          <a:prstGeom prst="bentConnector3">
            <a:avLst/>
          </a:prstGeom>
          <a:ln w="28575">
            <a:solidFill>
              <a:srgbClr val="FD92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180A445C-E387-4300-ABB2-46ECDFAE3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74" y="2243283"/>
            <a:ext cx="3969018" cy="295895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DE15DAF-A3DB-4910-8036-B108D2B26B01}"/>
              </a:ext>
            </a:extLst>
          </p:cNvPr>
          <p:cNvSpPr txBox="1"/>
          <p:nvPr/>
        </p:nvSpPr>
        <p:spPr>
          <a:xfrm>
            <a:off x="1548914" y="5133817"/>
            <a:ext cx="3229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Fitting </a:t>
            </a:r>
            <a:r>
              <a:rPr lang="de-D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F1BB76C-46A1-4530-89B6-A8C6D590C3E4}"/>
              </a:ext>
            </a:extLst>
          </p:cNvPr>
          <p:cNvSpPr/>
          <p:nvPr/>
        </p:nvSpPr>
        <p:spPr>
          <a:xfrm>
            <a:off x="6508362" y="2565779"/>
            <a:ext cx="3425588" cy="2242138"/>
          </a:xfrm>
          <a:custGeom>
            <a:avLst/>
            <a:gdLst>
              <a:gd name="connsiteX0" fmla="*/ 3425588 w 3425588"/>
              <a:gd name="connsiteY0" fmla="*/ 0 h 2242138"/>
              <a:gd name="connsiteX1" fmla="*/ 2804615 w 3425588"/>
              <a:gd name="connsiteY1" fmla="*/ 81887 h 2242138"/>
              <a:gd name="connsiteX2" fmla="*/ 2395182 w 3425588"/>
              <a:gd name="connsiteY2" fmla="*/ 361666 h 2242138"/>
              <a:gd name="connsiteX3" fmla="*/ 1965277 w 3425588"/>
              <a:gd name="connsiteY3" fmla="*/ 948520 h 2242138"/>
              <a:gd name="connsiteX4" fmla="*/ 1589964 w 3425588"/>
              <a:gd name="connsiteY4" fmla="*/ 1508078 h 2242138"/>
              <a:gd name="connsiteX5" fmla="*/ 1091821 w 3425588"/>
              <a:gd name="connsiteY5" fmla="*/ 1917511 h 2242138"/>
              <a:gd name="connsiteX6" fmla="*/ 716507 w 3425588"/>
              <a:gd name="connsiteY6" fmla="*/ 2094931 h 2242138"/>
              <a:gd name="connsiteX7" fmla="*/ 266131 w 3425588"/>
              <a:gd name="connsiteY7" fmla="*/ 2210937 h 2242138"/>
              <a:gd name="connsiteX8" fmla="*/ 0 w 3425588"/>
              <a:gd name="connsiteY8" fmla="*/ 2238233 h 2242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5588" h="2242138">
                <a:moveTo>
                  <a:pt x="3425588" y="0"/>
                </a:moveTo>
                <a:cubicBezTo>
                  <a:pt x="3200968" y="10804"/>
                  <a:pt x="2976349" y="21609"/>
                  <a:pt x="2804615" y="81887"/>
                </a:cubicBezTo>
                <a:cubicBezTo>
                  <a:pt x="2632881" y="142165"/>
                  <a:pt x="2535072" y="217227"/>
                  <a:pt x="2395182" y="361666"/>
                </a:cubicBezTo>
                <a:cubicBezTo>
                  <a:pt x="2255292" y="506105"/>
                  <a:pt x="2099480" y="757451"/>
                  <a:pt x="1965277" y="948520"/>
                </a:cubicBezTo>
                <a:cubicBezTo>
                  <a:pt x="1831074" y="1139589"/>
                  <a:pt x="1735540" y="1346580"/>
                  <a:pt x="1589964" y="1508078"/>
                </a:cubicBezTo>
                <a:cubicBezTo>
                  <a:pt x="1444388" y="1669576"/>
                  <a:pt x="1237397" y="1819702"/>
                  <a:pt x="1091821" y="1917511"/>
                </a:cubicBezTo>
                <a:cubicBezTo>
                  <a:pt x="946245" y="2015320"/>
                  <a:pt x="854122" y="2046027"/>
                  <a:pt x="716507" y="2094931"/>
                </a:cubicBezTo>
                <a:cubicBezTo>
                  <a:pt x="578892" y="2143835"/>
                  <a:pt x="385549" y="2187053"/>
                  <a:pt x="266131" y="2210937"/>
                </a:cubicBezTo>
                <a:cubicBezTo>
                  <a:pt x="146713" y="2234821"/>
                  <a:pt x="17060" y="2249606"/>
                  <a:pt x="0" y="2238233"/>
                </a:cubicBezTo>
              </a:path>
            </a:pathLst>
          </a:custGeom>
          <a:noFill/>
          <a:ln w="28575">
            <a:solidFill>
              <a:srgbClr val="FD92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8C59FA-9813-47BC-BACB-35BCB24B5C3D}"/>
              </a:ext>
            </a:extLst>
          </p:cNvPr>
          <p:cNvSpPr txBox="1"/>
          <p:nvPr/>
        </p:nvSpPr>
        <p:spPr>
          <a:xfrm>
            <a:off x="6857726" y="5130413"/>
            <a:ext cx="3229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endParaRPr lang="de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C923B6D0-CA8A-4C65-978C-8B2E8794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771E5-B1BB-42A2-8D4E-ACE070DEE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Sahat al </a:t>
            </a:r>
            <a:r>
              <a:rPr lang="en-US" dirty="0" err="1"/>
              <a:t>ferdous</a:t>
            </a:r>
            <a:r>
              <a:rPr lang="en-US" dirty="0"/>
              <a:t> </a:t>
            </a:r>
            <a:r>
              <a:rPr lang="en-US" dirty="0" err="1"/>
              <a:t>fahim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16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ML:training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E1CBDD-DFC2-4347-A7BA-4370C9EB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28359"/>
            <a:ext cx="9297698" cy="191479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67CE4-4022-46B8-BAE2-1AAF0A5F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99268-48B5-4DED-ADE7-44692401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Sahat al </a:t>
            </a:r>
            <a:r>
              <a:rPr lang="en-US" dirty="0" err="1"/>
              <a:t>ferdous</a:t>
            </a:r>
            <a:r>
              <a:rPr lang="en-US" dirty="0"/>
              <a:t> </a:t>
            </a:r>
            <a:r>
              <a:rPr lang="en-US" dirty="0" err="1"/>
              <a:t>fahim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084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ML: Leader </a:t>
            </a:r>
            <a:r>
              <a:rPr lang="de-DE" dirty="0" err="1"/>
              <a:t>selection</a:t>
            </a:r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A7AB28-D9E9-4F1F-9CAA-14621A6A6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9" b="49986"/>
          <a:stretch/>
        </p:blipFill>
        <p:spPr>
          <a:xfrm>
            <a:off x="750147" y="2084833"/>
            <a:ext cx="4614330" cy="20549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7268B4-5AB0-4BFD-A4E3-B1338CEA4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014" y="2017672"/>
            <a:ext cx="4467498" cy="4307164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87F83AD-0FCA-4381-83CD-B3D172EA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26DF94-D30C-4C1B-9ACE-FDB57908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Sahat al </a:t>
            </a:r>
            <a:r>
              <a:rPr lang="en-US" dirty="0" err="1"/>
              <a:t>ferdous</a:t>
            </a:r>
            <a:r>
              <a:rPr lang="en-US" dirty="0"/>
              <a:t> </a:t>
            </a:r>
            <a:r>
              <a:rPr lang="en-US" dirty="0" err="1"/>
              <a:t>fahim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33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2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64" y="484632"/>
            <a:ext cx="7453538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23E4D-E257-5AEB-C91A-483FCE3D2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096" y="977900"/>
            <a:ext cx="6539558" cy="3327734"/>
          </a:xfrm>
        </p:spPr>
        <p:txBody>
          <a:bodyPr anchor="b">
            <a:normAutofit/>
          </a:bodyPr>
          <a:lstStyle/>
          <a:p>
            <a:r>
              <a:rPr lang="en-US" sz="5400"/>
              <a:t>Random Forest Classifier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7527C-968C-9F10-FEE7-E7F7A5159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96" y="4621235"/>
            <a:ext cx="6539558" cy="1225028"/>
          </a:xfrm>
        </p:spPr>
        <p:txBody>
          <a:bodyPr anchor="t">
            <a:normAutofit/>
          </a:bodyPr>
          <a:lstStyle/>
          <a:p>
            <a:pPr algn="r"/>
            <a:endParaRPr lang="en-US" sz="2000" dirty="0">
              <a:latin typeface="TW Cen MT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58680" y="4476657"/>
            <a:ext cx="537097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84632"/>
            <a:ext cx="3584224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FDDB4-8DAB-4447-8459-384BC4B5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3612" y="6470704"/>
            <a:ext cx="5370974" cy="274320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dirty="0" err="1"/>
              <a:t>arsany</a:t>
            </a:r>
            <a:endParaRPr lang="en-US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E5AD6-B02E-A6B7-F4E7-F2B3D304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2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Random </a:t>
            </a:r>
            <a:r>
              <a:rPr lang="de-DE" dirty="0" err="1"/>
              <a:t>forest</a:t>
            </a:r>
            <a:r>
              <a:rPr lang="de-DE"/>
              <a:t> </a:t>
            </a:r>
            <a:r>
              <a:rPr lang="de-DE" dirty="0" err="1"/>
              <a:t>classifier</a:t>
            </a:r>
            <a:r>
              <a:rPr lang="de-DE"/>
              <a:t> 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67CE4-4022-46B8-BAE2-1AAF0A5F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99268-48B5-4DED-ADE7-44692401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Arrsany</a:t>
            </a:r>
          </a:p>
        </p:txBody>
      </p:sp>
      <p:pic>
        <p:nvPicPr>
          <p:cNvPr id="6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04DD008-E66E-E023-2BCD-90305177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724" y="2421624"/>
            <a:ext cx="8088405" cy="310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5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0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16" descr="A digital balance scale using circles">
            <a:extLst>
              <a:ext uri="{FF2B5EF4-FFF2-40B4-BE49-F238E27FC236}">
                <a16:creationId xmlns:a16="http://schemas.microsoft.com/office/drawing/2014/main" id="{19149E3D-AA9B-E7D6-8C5D-83D21E2471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1520" r="6" b="5409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B23E4D-E257-5AEB-C91A-483FCE3D2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7527C-968C-9F10-FEE7-E7F7A5159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W Cen MT"/>
              </a:rPr>
              <a:t>Logistic Regression vs. Random Forest Classifier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</a:endParaRPr>
          </a:p>
        </p:txBody>
      </p:sp>
      <p:cxnSp>
        <p:nvCxnSpPr>
          <p:cNvPr id="28" name="Straight Connector 22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E5AD6-B02E-A6B7-F4E7-F2B3D304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FDDB4-8DAB-4447-8459-384BC4B5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arsany</a:t>
            </a:r>
          </a:p>
        </p:txBody>
      </p:sp>
    </p:spTree>
    <p:extLst>
      <p:ext uri="{BB962C8B-B14F-4D97-AF65-F5344CB8AC3E}">
        <p14:creationId xmlns:p14="http://schemas.microsoft.com/office/powerpoint/2010/main" val="434946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56D8-1A6B-84F7-939A-54A68F40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5ACAC-89FF-6064-1FB8-3A935FDC8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r>
              <a:rPr lang="en-US" sz="2400" b="1" dirty="0">
                <a:solidFill>
                  <a:srgbClr val="1482AC"/>
                </a:solidFill>
                <a:latin typeface="TW Cen MT"/>
              </a:rPr>
              <a:t>Pros:</a:t>
            </a:r>
            <a:endParaRPr lang="en-US"/>
          </a:p>
          <a:p>
            <a:pPr marL="342900" indent="-342900">
              <a:buFont typeface="Arial" panose="020B0602020104020603" pitchFamily="34" charset="0"/>
              <a:buChar char="•"/>
            </a:pPr>
            <a:r>
              <a:rPr lang="en-US" sz="2000" dirty="0">
                <a:latin typeface="TW Cen MT"/>
              </a:rPr>
              <a:t>Capture non-Linear Relationships (complex patterns in the data)</a:t>
            </a:r>
            <a:endParaRPr lang="en-US" sz="2000" dirty="0"/>
          </a:p>
          <a:p>
            <a:pPr marL="342900" indent="-342900">
              <a:buFont typeface="Arial" panose="020B0602020104020603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TW Cen MT"/>
            </a:endParaRPr>
          </a:p>
          <a:p>
            <a:r>
              <a:rPr lang="en-US" sz="2400" b="1" dirty="0">
                <a:solidFill>
                  <a:srgbClr val="1482AC"/>
                </a:solidFill>
                <a:latin typeface="TW Cen MT"/>
              </a:rPr>
              <a:t>Cons:</a:t>
            </a:r>
          </a:p>
          <a:p>
            <a:pPr marL="342900" indent="-342900">
              <a:buFont typeface="Arial" panose="020B0602020104020603" pitchFamily="34" charset="0"/>
              <a:buChar char="•"/>
            </a:pPr>
            <a:r>
              <a:rPr lang="en-US" sz="2000" dirty="0">
                <a:latin typeface="TW Cen MT"/>
              </a:rPr>
              <a:t>Interpretability (lower compared to linear regression)</a:t>
            </a:r>
            <a:endParaRPr lang="en-US" dirty="0"/>
          </a:p>
          <a:p>
            <a:pPr marL="342900" indent="-342900">
              <a:buFont typeface="Arial" panose="020B0602020104020603" pitchFamily="34" charset="0"/>
              <a:buChar char="•"/>
            </a:pPr>
            <a:r>
              <a:rPr lang="en-US" sz="2000" dirty="0">
                <a:latin typeface="TW Cen MT"/>
              </a:rPr>
              <a:t>Computational Complexity</a:t>
            </a:r>
          </a:p>
          <a:p>
            <a:pPr marL="0" indent="0">
              <a:buNone/>
            </a:pPr>
            <a:endParaRPr lang="en-US" sz="2000" dirty="0">
              <a:latin typeface="TW Cen MT"/>
            </a:endParaRPr>
          </a:p>
          <a:p>
            <a:endParaRPr lang="en-US" sz="2400" b="1" dirty="0">
              <a:solidFill>
                <a:srgbClr val="1482AC"/>
              </a:solidFill>
              <a:latin typeface="TW Cen M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F6763-5A4F-B03E-3AC4-429BB448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39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F1915-AF33-4AE9-993A-4FB3D4A4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cap="all">
                <a:solidFill>
                  <a:srgbClr val="0D0D0D"/>
                </a:solidFill>
                <a:latin typeface="Tw Cen MT Condensed"/>
              </a:rPr>
              <a:t>Arsany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853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56D8-1A6B-84F7-939A-54A68F40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F6763-5A4F-B03E-3AC4-429BB448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40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F1915-AF33-4AE9-993A-4FB3D4A4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cap="all">
                <a:solidFill>
                  <a:srgbClr val="0D0D0D"/>
                </a:solidFill>
                <a:latin typeface="Tw Cen MT Condensed"/>
              </a:rPr>
              <a:t>Arsany</a:t>
            </a:r>
            <a:endParaRPr lang="en-US" dirty="0"/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3DA89F42-CF34-63B3-6946-5CD02597BC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233625"/>
              </p:ext>
            </p:extLst>
          </p:nvPr>
        </p:nvGraphicFramePr>
        <p:xfrm>
          <a:off x="1019735" y="2061882"/>
          <a:ext cx="9720261" cy="4109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2683">
                  <a:extLst>
                    <a:ext uri="{9D8B030D-6E8A-4147-A177-3AD203B41FA5}">
                      <a16:colId xmlns:a16="http://schemas.microsoft.com/office/drawing/2014/main" val="622630633"/>
                    </a:ext>
                  </a:extLst>
                </a:gridCol>
                <a:gridCol w="4607578">
                  <a:extLst>
                    <a:ext uri="{9D8B030D-6E8A-4147-A177-3AD203B41FA5}">
                      <a16:colId xmlns:a16="http://schemas.microsoft.com/office/drawing/2014/main" val="1751149813"/>
                    </a:ext>
                  </a:extLst>
                </a:gridCol>
              </a:tblGrid>
              <a:tr h="479051">
                <a:tc>
                  <a:txBody>
                    <a:bodyPr/>
                    <a:lstStyle/>
                    <a:p>
                      <a:r>
                        <a:rPr lang="en-US"/>
                        <a:t>Logistic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 Classifier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344994"/>
                  </a:ext>
                </a:extLst>
              </a:tr>
              <a:tr h="14147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674823"/>
                  </a:ext>
                </a:extLst>
              </a:tr>
              <a:tr h="221561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52736"/>
                  </a:ext>
                </a:extLst>
              </a:tr>
            </a:tbl>
          </a:graphicData>
        </a:graphic>
      </p:graphicFrame>
      <p:pic>
        <p:nvPicPr>
          <p:cNvPr id="13" name="Picture 9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29EB079A-5D98-E2B9-F9B4-6651E30D0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9" y="2711609"/>
            <a:ext cx="4143936" cy="1053784"/>
          </a:xfrm>
          <a:prstGeom prst="rect">
            <a:avLst/>
          </a:prstGeom>
        </p:spPr>
      </p:pic>
      <p:pic>
        <p:nvPicPr>
          <p:cNvPr id="15" name="Picture 10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4D285DC0-8F58-C595-695C-393C8EB44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635" y="2669354"/>
            <a:ext cx="3998258" cy="1115881"/>
          </a:xfrm>
          <a:prstGeom prst="rect">
            <a:avLst/>
          </a:prstGeom>
        </p:spPr>
      </p:pic>
      <p:pic>
        <p:nvPicPr>
          <p:cNvPr id="17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D7AFBDC-E9B5-E39D-B82F-B0E469686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747" y="4468007"/>
            <a:ext cx="3533775" cy="1172136"/>
          </a:xfrm>
          <a:prstGeom prst="rect">
            <a:avLst/>
          </a:prstGeom>
        </p:spPr>
      </p:pic>
      <p:pic>
        <p:nvPicPr>
          <p:cNvPr id="19" name="Picture 1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91C96DC-3458-B5FA-549C-59D935D37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107" y="4118134"/>
            <a:ext cx="3942229" cy="193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5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simulation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E7931B-D335-4E60-A536-52D30E3A3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742" y="1877133"/>
            <a:ext cx="6429103" cy="385746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FD345F-77E5-43EB-9ABF-34149545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E3DFC-9FA3-4930-8E79-FAE1A5DA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Sahat al </a:t>
            </a:r>
            <a:r>
              <a:rPr lang="en-US" dirty="0" err="1"/>
              <a:t>ferdous</a:t>
            </a:r>
            <a:r>
              <a:rPr lang="en-US" dirty="0"/>
              <a:t> </a:t>
            </a:r>
            <a:r>
              <a:rPr lang="en-US" dirty="0" err="1"/>
              <a:t>fahim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3389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simulation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50657-F5FA-46FE-98DB-DC9F2FA0C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92" y="1836638"/>
            <a:ext cx="10241280" cy="452323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BCC9F-A92F-4AC6-82AE-3D68855D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3F980-8F3D-4F2F-BA7A-ADDA21A68301}"/>
              </a:ext>
            </a:extLst>
          </p:cNvPr>
          <p:cNvSpPr txBox="1"/>
          <p:nvPr/>
        </p:nvSpPr>
        <p:spPr>
          <a:xfrm>
            <a:off x="1024128" y="2020208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>
                    <a:lumMod val="95000"/>
                  </a:schemeClr>
                </a:solidFill>
              </a:rPr>
              <a:t>Leader </a:t>
            </a:r>
            <a:r>
              <a:rPr lang="de-DE" b="1" dirty="0" err="1">
                <a:solidFill>
                  <a:schemeClr val="bg1">
                    <a:lumMod val="95000"/>
                  </a:schemeClr>
                </a:solidFill>
              </a:rPr>
              <a:t>Selector</a:t>
            </a:r>
            <a:endParaRPr lang="de-DE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A1C14F-1DB9-4536-A66D-02C1AA57B850}"/>
              </a:ext>
            </a:extLst>
          </p:cNvPr>
          <p:cNvSpPr txBox="1"/>
          <p:nvPr/>
        </p:nvSpPr>
        <p:spPr>
          <a:xfrm>
            <a:off x="9977797" y="1955583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>
                    <a:lumMod val="95000"/>
                  </a:schemeClr>
                </a:solidFill>
              </a:rPr>
              <a:t>Truck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EE6A9-88E1-4CC7-AF49-0128FDD724EB}"/>
              </a:ext>
            </a:extLst>
          </p:cNvPr>
          <p:cNvSpPr txBox="1"/>
          <p:nvPr/>
        </p:nvSpPr>
        <p:spPr>
          <a:xfrm>
            <a:off x="4861996" y="4617287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>
                    <a:lumMod val="95000"/>
                  </a:schemeClr>
                </a:solidFill>
              </a:rPr>
              <a:t>Truck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1241E-8582-41A6-922F-F88944E9A7A9}"/>
              </a:ext>
            </a:extLst>
          </p:cNvPr>
          <p:cNvSpPr txBox="1"/>
          <p:nvPr/>
        </p:nvSpPr>
        <p:spPr>
          <a:xfrm>
            <a:off x="9884664" y="4588503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>
                    <a:lumMod val="95000"/>
                  </a:schemeClr>
                </a:solidFill>
              </a:rPr>
              <a:t>Truck 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42A40-08F8-4A32-8484-FF3955762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Sahat al </a:t>
            </a:r>
            <a:r>
              <a:rPr lang="en-US" dirty="0" err="1"/>
              <a:t>ferdous</a:t>
            </a:r>
            <a:r>
              <a:rPr lang="en-US" dirty="0"/>
              <a:t> </a:t>
            </a:r>
            <a:r>
              <a:rPr lang="en-US" dirty="0" err="1"/>
              <a:t>fahim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9665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simulation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90C05-CC2F-401E-93EF-1E7BE0431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00" y="1778869"/>
            <a:ext cx="10392483" cy="46549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777858-FB29-4A5E-816E-83020906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768B9-CCE7-4714-BBE0-334A7A888D86}"/>
              </a:ext>
            </a:extLst>
          </p:cNvPr>
          <p:cNvSpPr txBox="1"/>
          <p:nvPr/>
        </p:nvSpPr>
        <p:spPr>
          <a:xfrm>
            <a:off x="9977797" y="1955583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>
                    <a:lumMod val="95000"/>
                  </a:schemeClr>
                </a:solidFill>
              </a:rPr>
              <a:t>Truck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BD6F8-59FB-44F0-B06C-9CB53F420ED7}"/>
              </a:ext>
            </a:extLst>
          </p:cNvPr>
          <p:cNvSpPr txBox="1"/>
          <p:nvPr/>
        </p:nvSpPr>
        <p:spPr>
          <a:xfrm>
            <a:off x="9884664" y="4588503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>
                    <a:lumMod val="95000"/>
                  </a:schemeClr>
                </a:solidFill>
              </a:rPr>
              <a:t>Truck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B8B62-C877-48F7-A7E7-E36D97A6E33E}"/>
              </a:ext>
            </a:extLst>
          </p:cNvPr>
          <p:cNvSpPr txBox="1"/>
          <p:nvPr/>
        </p:nvSpPr>
        <p:spPr>
          <a:xfrm>
            <a:off x="4722659" y="4588503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>
                    <a:lumMod val="95000"/>
                  </a:schemeClr>
                </a:solidFill>
              </a:rPr>
              <a:t>Truck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A7EDE-7481-428E-AFFF-A2A8EEFE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Sahat al </a:t>
            </a:r>
            <a:r>
              <a:rPr lang="en-US" dirty="0" err="1"/>
              <a:t>ferdous</a:t>
            </a:r>
            <a:r>
              <a:rPr lang="en-US" dirty="0"/>
              <a:t> </a:t>
            </a:r>
            <a:r>
              <a:rPr lang="en-US" dirty="0" err="1"/>
              <a:t>fahim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3083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C75C-D7EC-46BE-996A-0071567D1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references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83DCC-C751-4954-ABC8-140EF018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CB7F9-3009-4882-A27D-A09C1F325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861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New leader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text, screenshot, diagram, parallel&#10;&#10;Description automatically generated">
            <a:extLst>
              <a:ext uri="{FF2B5EF4-FFF2-40B4-BE49-F238E27FC236}">
                <a16:creationId xmlns:a16="http://schemas.microsoft.com/office/drawing/2014/main" id="{9E8CB888-5E70-7150-790D-B3A2211ADD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83" t="5777" r="8790"/>
          <a:stretch/>
        </p:blipFill>
        <p:spPr>
          <a:xfrm>
            <a:off x="5050489" y="640080"/>
            <a:ext cx="6105926" cy="557881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36032-AFA5-40A9-8B8C-F1A23DF7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FAB73BC-B049-4115-A692-8D63A059BFB8}" type="slidenum">
              <a:rPr lang="en-US" smtClean="0"/>
              <a:pPr defTabSz="914400">
                <a:spcAft>
                  <a:spcPts val="600"/>
                </a:spcAft>
              </a:pPr>
              <a:t>45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3D192-5D81-43EB-B9F7-05F93F84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Md Saidur Rahman</a:t>
            </a:r>
          </a:p>
        </p:txBody>
      </p:sp>
    </p:spTree>
    <p:extLst>
      <p:ext uri="{BB962C8B-B14F-4D97-AF65-F5344CB8AC3E}">
        <p14:creationId xmlns:p14="http://schemas.microsoft.com/office/powerpoint/2010/main" val="30095970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0</TotalTime>
  <Words>451</Words>
  <Application>Microsoft Office PowerPoint</Application>
  <PresentationFormat>Widescreen</PresentationFormat>
  <Paragraphs>173</Paragraphs>
  <Slides>45</Slides>
  <Notes>0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Integral</vt:lpstr>
      <vt:lpstr>Truck platooning</vt:lpstr>
      <vt:lpstr>Platooning</vt:lpstr>
      <vt:lpstr>Concept: Requirements</vt:lpstr>
      <vt:lpstr>Concept:  Use case</vt:lpstr>
      <vt:lpstr>Class diagram</vt:lpstr>
      <vt:lpstr>Platoon formation </vt:lpstr>
      <vt:lpstr>safety</vt:lpstr>
      <vt:lpstr>communication</vt:lpstr>
      <vt:lpstr>Uppaal: formation</vt:lpstr>
      <vt:lpstr>Uppaal: formation</vt:lpstr>
      <vt:lpstr>Uppaal: formation</vt:lpstr>
      <vt:lpstr>Uppaal: formation</vt:lpstr>
      <vt:lpstr>Uppaal: formation</vt:lpstr>
      <vt:lpstr>Uppaal: formation</vt:lpstr>
      <vt:lpstr>Uppaal: formation</vt:lpstr>
      <vt:lpstr>Uppaal: formation</vt:lpstr>
      <vt:lpstr>Uppaal: formation</vt:lpstr>
      <vt:lpstr>Uppaal: formation</vt:lpstr>
      <vt:lpstr>Uppaal: Safety</vt:lpstr>
      <vt:lpstr>Uppaal: Safety</vt:lpstr>
      <vt:lpstr>Uppaal: Safety</vt:lpstr>
      <vt:lpstr>Uppaal: Safety</vt:lpstr>
      <vt:lpstr>Uppaal: Safety</vt:lpstr>
      <vt:lpstr>Uppaal: Safety</vt:lpstr>
      <vt:lpstr>Uppaal: Safety</vt:lpstr>
      <vt:lpstr>Uppaal: Safety</vt:lpstr>
      <vt:lpstr>Uppaal: Safety</vt:lpstr>
      <vt:lpstr>Uppaal: Safety</vt:lpstr>
      <vt:lpstr>Uppaal: Safety</vt:lpstr>
      <vt:lpstr>UPPAAL: Connect</vt:lpstr>
      <vt:lpstr>ML: Data preparation</vt:lpstr>
      <vt:lpstr>ML: Data preparation</vt:lpstr>
      <vt:lpstr>ML: Data preparation</vt:lpstr>
      <vt:lpstr>ML:training</vt:lpstr>
      <vt:lpstr>ML: Leader selection</vt:lpstr>
      <vt:lpstr>Random Forest Classifier</vt:lpstr>
      <vt:lpstr>Random forest classifier </vt:lpstr>
      <vt:lpstr>comparison</vt:lpstr>
      <vt:lpstr>Random Forest Classifier</vt:lpstr>
      <vt:lpstr>decision</vt:lpstr>
      <vt:lpstr>simulation</vt:lpstr>
      <vt:lpstr>simulation</vt:lpstr>
      <vt:lpstr>simulation</vt:lpstr>
      <vt:lpstr>references</vt:lpstr>
      <vt:lpstr>New leader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platooning</dc:title>
  <dc:creator/>
  <cp:lastModifiedBy/>
  <cp:revision>2</cp:revision>
  <dcterms:created xsi:type="dcterms:W3CDTF">2023-05-29T08:48:21Z</dcterms:created>
  <dcterms:modified xsi:type="dcterms:W3CDTF">2023-06-22T20:30:30Z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